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82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Shape 1"/>
          <p:cNvSpPr/>
          <p:nvPr/>
        </p:nvSpPr>
        <p:spPr>
          <a:xfrm>
            <a:off x="384048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" name="Shape 2"/>
          <p:cNvSpPr/>
          <p:nvPr/>
        </p:nvSpPr>
        <p:spPr>
          <a:xfrm>
            <a:off x="448056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5" name="Shape 3"/>
          <p:cNvSpPr/>
          <p:nvPr/>
        </p:nvSpPr>
        <p:spPr>
          <a:xfrm>
            <a:off x="512064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576072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7" name="Shape 5"/>
          <p:cNvSpPr/>
          <p:nvPr/>
        </p:nvSpPr>
        <p:spPr>
          <a:xfrm>
            <a:off x="640080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8" name="Shape 6"/>
          <p:cNvSpPr/>
          <p:nvPr/>
        </p:nvSpPr>
        <p:spPr>
          <a:xfrm>
            <a:off x="704088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9" name="Shape 7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0" name="Shape 8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1" name="Shape 9"/>
          <p:cNvSpPr/>
          <p:nvPr/>
        </p:nvSpPr>
        <p:spPr>
          <a:xfrm>
            <a:off x="384048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2" name="Shape 10"/>
          <p:cNvSpPr/>
          <p:nvPr/>
        </p:nvSpPr>
        <p:spPr>
          <a:xfrm>
            <a:off x="448056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3" name="Shape 11"/>
          <p:cNvSpPr/>
          <p:nvPr/>
        </p:nvSpPr>
        <p:spPr>
          <a:xfrm>
            <a:off x="512064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4" name="Shape 12"/>
          <p:cNvSpPr/>
          <p:nvPr/>
        </p:nvSpPr>
        <p:spPr>
          <a:xfrm>
            <a:off x="576072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5" name="Shape 13"/>
          <p:cNvSpPr/>
          <p:nvPr/>
        </p:nvSpPr>
        <p:spPr>
          <a:xfrm>
            <a:off x="640080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6" name="Shape 14"/>
          <p:cNvSpPr/>
          <p:nvPr/>
        </p:nvSpPr>
        <p:spPr>
          <a:xfrm>
            <a:off x="704088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7" name="Shape 15"/>
          <p:cNvSpPr/>
          <p:nvPr/>
        </p:nvSpPr>
        <p:spPr>
          <a:xfrm>
            <a:off x="768096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8" name="Shape 16"/>
          <p:cNvSpPr/>
          <p:nvPr/>
        </p:nvSpPr>
        <p:spPr>
          <a:xfrm>
            <a:off x="8321040" y="105156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19" name="Shape 17"/>
          <p:cNvSpPr/>
          <p:nvPr/>
        </p:nvSpPr>
        <p:spPr>
          <a:xfrm>
            <a:off x="384048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0" name="Shape 18"/>
          <p:cNvSpPr/>
          <p:nvPr/>
        </p:nvSpPr>
        <p:spPr>
          <a:xfrm>
            <a:off x="448056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1" name="Shape 19"/>
          <p:cNvSpPr/>
          <p:nvPr/>
        </p:nvSpPr>
        <p:spPr>
          <a:xfrm>
            <a:off x="512064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2" name="Shape 20"/>
          <p:cNvSpPr/>
          <p:nvPr/>
        </p:nvSpPr>
        <p:spPr>
          <a:xfrm>
            <a:off x="576072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3" name="Shape 21"/>
          <p:cNvSpPr/>
          <p:nvPr/>
        </p:nvSpPr>
        <p:spPr>
          <a:xfrm>
            <a:off x="640080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4" name="Shape 22"/>
          <p:cNvSpPr/>
          <p:nvPr/>
        </p:nvSpPr>
        <p:spPr>
          <a:xfrm>
            <a:off x="704088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5" name="Shape 23"/>
          <p:cNvSpPr/>
          <p:nvPr/>
        </p:nvSpPr>
        <p:spPr>
          <a:xfrm>
            <a:off x="768096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6" name="Shape 24"/>
          <p:cNvSpPr/>
          <p:nvPr/>
        </p:nvSpPr>
        <p:spPr>
          <a:xfrm>
            <a:off x="8321040" y="182880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7" name="Shape 25"/>
          <p:cNvSpPr/>
          <p:nvPr/>
        </p:nvSpPr>
        <p:spPr>
          <a:xfrm>
            <a:off x="384048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8" name="Shape 26"/>
          <p:cNvSpPr/>
          <p:nvPr/>
        </p:nvSpPr>
        <p:spPr>
          <a:xfrm>
            <a:off x="448056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29" name="Shape 27"/>
          <p:cNvSpPr/>
          <p:nvPr/>
        </p:nvSpPr>
        <p:spPr>
          <a:xfrm>
            <a:off x="512064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0" name="Shape 28"/>
          <p:cNvSpPr/>
          <p:nvPr/>
        </p:nvSpPr>
        <p:spPr>
          <a:xfrm>
            <a:off x="576072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1" name="Shape 29"/>
          <p:cNvSpPr/>
          <p:nvPr/>
        </p:nvSpPr>
        <p:spPr>
          <a:xfrm>
            <a:off x="640080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2" name="Shape 30"/>
          <p:cNvSpPr/>
          <p:nvPr/>
        </p:nvSpPr>
        <p:spPr>
          <a:xfrm>
            <a:off x="704088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3" name="Shape 31"/>
          <p:cNvSpPr/>
          <p:nvPr/>
        </p:nvSpPr>
        <p:spPr>
          <a:xfrm>
            <a:off x="768096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4" name="Shape 32"/>
          <p:cNvSpPr/>
          <p:nvPr/>
        </p:nvSpPr>
        <p:spPr>
          <a:xfrm>
            <a:off x="8321040" y="260604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5" name="Shape 33"/>
          <p:cNvSpPr/>
          <p:nvPr/>
        </p:nvSpPr>
        <p:spPr>
          <a:xfrm>
            <a:off x="384048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6" name="Shape 34"/>
          <p:cNvSpPr/>
          <p:nvPr/>
        </p:nvSpPr>
        <p:spPr>
          <a:xfrm>
            <a:off x="448056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7" name="Shape 35"/>
          <p:cNvSpPr/>
          <p:nvPr/>
        </p:nvSpPr>
        <p:spPr>
          <a:xfrm>
            <a:off x="512064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8" name="Shape 36"/>
          <p:cNvSpPr/>
          <p:nvPr/>
        </p:nvSpPr>
        <p:spPr>
          <a:xfrm>
            <a:off x="576072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39" name="Shape 37"/>
          <p:cNvSpPr/>
          <p:nvPr/>
        </p:nvSpPr>
        <p:spPr>
          <a:xfrm>
            <a:off x="640080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0" name="Shape 38"/>
          <p:cNvSpPr/>
          <p:nvPr/>
        </p:nvSpPr>
        <p:spPr>
          <a:xfrm>
            <a:off x="704088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1" name="Shape 39"/>
          <p:cNvSpPr/>
          <p:nvPr/>
        </p:nvSpPr>
        <p:spPr>
          <a:xfrm>
            <a:off x="768096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2" name="Shape 40"/>
          <p:cNvSpPr/>
          <p:nvPr/>
        </p:nvSpPr>
        <p:spPr>
          <a:xfrm>
            <a:off x="8321040" y="338328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3" name="Shape 41"/>
          <p:cNvSpPr/>
          <p:nvPr/>
        </p:nvSpPr>
        <p:spPr>
          <a:xfrm>
            <a:off x="384048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4" name="Shape 42"/>
          <p:cNvSpPr/>
          <p:nvPr/>
        </p:nvSpPr>
        <p:spPr>
          <a:xfrm>
            <a:off x="448056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5" name="Shape 43"/>
          <p:cNvSpPr/>
          <p:nvPr/>
        </p:nvSpPr>
        <p:spPr>
          <a:xfrm>
            <a:off x="512064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6" name="Shape 44"/>
          <p:cNvSpPr/>
          <p:nvPr/>
        </p:nvSpPr>
        <p:spPr>
          <a:xfrm>
            <a:off x="576072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7" name="Shape 45"/>
          <p:cNvSpPr/>
          <p:nvPr/>
        </p:nvSpPr>
        <p:spPr>
          <a:xfrm>
            <a:off x="640080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8" name="Shape 46"/>
          <p:cNvSpPr/>
          <p:nvPr/>
        </p:nvSpPr>
        <p:spPr>
          <a:xfrm>
            <a:off x="704088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49" name="Shape 47"/>
          <p:cNvSpPr/>
          <p:nvPr/>
        </p:nvSpPr>
        <p:spPr>
          <a:xfrm>
            <a:off x="768096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50" name="Shape 48"/>
          <p:cNvSpPr/>
          <p:nvPr/>
        </p:nvSpPr>
        <p:spPr>
          <a:xfrm>
            <a:off x="8321040" y="4160520"/>
            <a:ext cx="54864" cy="54864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FJ"/>
          </a:p>
        </p:txBody>
      </p:sp>
      <p:sp>
        <p:nvSpPr>
          <p:cNvPr id="51" name="Shape 49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52" name="Text 50"/>
          <p:cNvSpPr/>
          <p:nvPr/>
        </p:nvSpPr>
        <p:spPr>
          <a:xfrm>
            <a:off x="64008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40080" y="1005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Threat Report 2025</a:t>
            </a:r>
            <a:endParaRPr lang="en-US" sz="4400" dirty="0"/>
          </a:p>
        </p:txBody>
      </p:sp>
      <p:sp>
        <p:nvSpPr>
          <p:cNvPr id="54" name="Text 52"/>
          <p:cNvSpPr/>
          <p:nvPr/>
        </p:nvSpPr>
        <p:spPr>
          <a:xfrm>
            <a:off x="640080" y="1938528"/>
            <a:ext cx="6858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Defender's Guide from the Frontlines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640080" y="2834640"/>
            <a:ext cx="3200400" cy="36576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56" name="Text 54"/>
          <p:cNvSpPr/>
          <p:nvPr/>
        </p:nvSpPr>
        <p:spPr>
          <a:xfrm>
            <a:off x="640080" y="2990088"/>
            <a:ext cx="7315200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CS352  |  Date: April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Vishant Kumar – S11230430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Anav Chand – S11221203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Rohan Nandan – S11234883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Zhixian Chen – S11230686</a:t>
            </a:r>
          </a:p>
        </p:txBody>
      </p:sp>
      <p:sp>
        <p:nvSpPr>
          <p:cNvPr id="57" name="Shape 5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58" name="Text 56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Industrialization of the Modern Cyber Breach | SentinelLABS &amp; Wayfinder Research | RSAC 2026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4" name="Text 2"/>
          <p:cNvSpPr/>
          <p:nvPr/>
        </p:nvSpPr>
        <p:spPr>
          <a:xfrm>
            <a:off x="320040" y="1371600"/>
            <a:ext cx="28842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0" y="365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0" y="960120"/>
            <a:ext cx="5166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at RSAC 2026 by SentinelOne (NYSE: S), a leader in AI-driven cybersecurity.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SentinelLABS &amp; Wayfinder threat detection and response teams.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evolving attacker tactics at industrial scale across endpoints, identity, cloud, and AI.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data from protecting nearly 1-in-5 Fortune 500 companies.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3246120"/>
            <a:ext cx="5029200" cy="27432"/>
          </a:xfrm>
          <a:prstGeom prst="rect">
            <a:avLst/>
          </a:prstGeom>
          <a:solidFill>
            <a:srgbClr val="D4E1EC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9" name="Text 7"/>
          <p:cNvSpPr/>
          <p:nvPr/>
        </p:nvSpPr>
        <p:spPr>
          <a:xfrm>
            <a:off x="3657600" y="3364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3840480"/>
            <a:ext cx="5166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are no longer opportunistic — they are industrialized, operating with the speed and scale of automated pipelines. Organizations need actionable, frontline intelligence to shift from reactive to proactive defense.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02920" cy="1325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Key Threats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the four major threat themes identified by SentinelOne's 2025 report.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02920" cy="1325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2" name="Text 10"/>
          <p:cNvSpPr/>
          <p:nvPr/>
        </p:nvSpPr>
        <p:spPr>
          <a:xfrm>
            <a:off x="502920" y="3291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990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Core Frameworks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Defender's Playbook and the 8-phase intrusion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6" name="Shape 14"/>
          <p:cNvSpPr/>
          <p:nvPr/>
        </p:nvSpPr>
        <p:spPr>
          <a:xfrm>
            <a:off x="4800600" y="1325880"/>
            <a:ext cx="502920" cy="1325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14356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Real 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1828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implications through real-world case examples.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88036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502920" cy="1325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22" name="Text 20"/>
          <p:cNvSpPr/>
          <p:nvPr/>
        </p:nvSpPr>
        <p:spPr>
          <a:xfrm>
            <a:off x="4846320" y="32918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2990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Evaluate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the report's strengths, limitations, and compare with industry alternatives.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THEORY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Industrialization of Cyber Attacks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91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09728" cy="1051560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8" name="Text 6"/>
          <p:cNvSpPr/>
          <p:nvPr/>
        </p:nvSpPr>
        <p:spPr>
          <a:xfrm>
            <a:off x="6858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Industrialized Attack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5087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scalable cyber operations that mirror legitimate business pipelines — with velocity, repeatability, and minimal human intervention.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109728" cy="105156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Defender's Playbook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743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SentinelOne's framework dissecting modern intrusions into 8 strategic phases, enabling proactive, context-aware resilience.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09728" cy="105156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Multiplier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mature automation that amplifies both attacker velocity (credential harvesting, lateral movement) and defender capability (automated blocking).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THREAT THEMES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 Annual Threat Report 2025   |   04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73152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Identity Paradox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detect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spans SaaS, cloud &amp; AI agents. One stolen token = dozens of systems compromised.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11480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1" name="Shape 9"/>
          <p:cNvSpPr/>
          <p:nvPr/>
        </p:nvSpPr>
        <p:spPr>
          <a:xfrm>
            <a:off x="274320" y="2834640"/>
            <a:ext cx="4114800" cy="73152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Living off the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hijack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target build systems &amp; dev workflows to inject malicious code before production.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7" name="Text 15"/>
          <p:cNvSpPr/>
          <p:nvPr/>
        </p:nvSpPr>
        <p:spPr>
          <a:xfrm>
            <a:off x="493776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Edge Decay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zero-days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(firewalls, VPNs, routers) are primary attack surfaces — often unmonitored.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114800" cy="73152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22" name="Text 20"/>
          <p:cNvSpPr/>
          <p:nvPr/>
        </p:nvSpPr>
        <p:spPr>
          <a:xfrm>
            <a:off x="493776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Automation Multiplier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threats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703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automate vulnerability scanning, credential harvesting &amp; lateral movement at speed.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DEFENDER'S PLAYBOOK: 8 PHASES OF MODERN INTRUSION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868680" y="1069848"/>
            <a:ext cx="749808" cy="749808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0" name="Shape 8"/>
          <p:cNvSpPr/>
          <p:nvPr/>
        </p:nvSpPr>
        <p:spPr>
          <a:xfrm>
            <a:off x="3044952" y="1069848"/>
            <a:ext cx="749808" cy="749808"/>
          </a:xfrm>
          <a:prstGeom prst="ellipse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1" name="Text 9"/>
          <p:cNvSpPr/>
          <p:nvPr/>
        </p:nvSpPr>
        <p:spPr>
          <a:xfrm>
            <a:off x="3044952" y="109728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42032" y="1920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9601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4" name="Shape 12"/>
          <p:cNvSpPr/>
          <p:nvPr/>
        </p:nvSpPr>
        <p:spPr>
          <a:xfrm>
            <a:off x="5221224" y="1069848"/>
            <a:ext cx="749808" cy="749808"/>
          </a:xfrm>
          <a:prstGeom prst="ellipse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5" name="Text 13"/>
          <p:cNvSpPr/>
          <p:nvPr/>
        </p:nvSpPr>
        <p:spPr>
          <a:xfrm>
            <a:off x="5221224" y="109728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18304" y="1920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03136" y="96012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8" name="Shape 16"/>
          <p:cNvSpPr/>
          <p:nvPr/>
        </p:nvSpPr>
        <p:spPr>
          <a:xfrm>
            <a:off x="7397496" y="1069848"/>
            <a:ext cx="749808" cy="749808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9" name="Text 17"/>
          <p:cNvSpPr/>
          <p:nvPr/>
        </p:nvSpPr>
        <p:spPr>
          <a:xfrm>
            <a:off x="7397496" y="109728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94576" y="1920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22" name="Shape 20"/>
          <p:cNvSpPr/>
          <p:nvPr/>
        </p:nvSpPr>
        <p:spPr>
          <a:xfrm>
            <a:off x="868680" y="2852928"/>
            <a:ext cx="749808" cy="749808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23" name="Text 21"/>
          <p:cNvSpPr/>
          <p:nvPr/>
        </p:nvSpPr>
        <p:spPr>
          <a:xfrm>
            <a:off x="868680" y="288036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65760" y="370332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50592" y="274320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26" name="Shape 24"/>
          <p:cNvSpPr/>
          <p:nvPr/>
        </p:nvSpPr>
        <p:spPr>
          <a:xfrm>
            <a:off x="3044952" y="2852928"/>
            <a:ext cx="749808" cy="74980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27" name="Text 25"/>
          <p:cNvSpPr/>
          <p:nvPr/>
        </p:nvSpPr>
        <p:spPr>
          <a:xfrm>
            <a:off x="3044952" y="288036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542032" y="370332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26864" y="274320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30" name="Shape 28"/>
          <p:cNvSpPr/>
          <p:nvPr/>
        </p:nvSpPr>
        <p:spPr>
          <a:xfrm>
            <a:off x="5221224" y="2852928"/>
            <a:ext cx="749808" cy="749808"/>
          </a:xfrm>
          <a:prstGeom prst="ellipse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1" name="Text 29"/>
          <p:cNvSpPr/>
          <p:nvPr/>
        </p:nvSpPr>
        <p:spPr>
          <a:xfrm>
            <a:off x="5221224" y="288036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718304" y="370332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03136" y="2743200"/>
            <a:ext cx="196596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34" name="Shape 32"/>
          <p:cNvSpPr/>
          <p:nvPr/>
        </p:nvSpPr>
        <p:spPr>
          <a:xfrm>
            <a:off x="7397496" y="2852928"/>
            <a:ext cx="749808" cy="749808"/>
          </a:xfrm>
          <a:prstGeom prst="ellipse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5" name="Text 33"/>
          <p:cNvSpPr/>
          <p:nvPr/>
        </p:nvSpPr>
        <p:spPr>
          <a:xfrm>
            <a:off x="7397496" y="2880360"/>
            <a:ext cx="7498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894576" y="370332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/ Extortion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 Attackers now operate across ALL phases simultaneously using automation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0D1A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  <a:p>
            <a:pPr marL="0" indent="0">
              <a:buNone/>
            </a:pPr>
            <a:r>
              <a:rPr lang="en-US" sz="1600" b="1" kern="0" spc="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3200400"/>
            <a:ext cx="2926080" cy="1463040"/>
          </a:xfrm>
          <a:prstGeom prst="rect">
            <a:avLst/>
          </a:prstGeom>
          <a:solidFill>
            <a:srgbClr val="F77F0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job applications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N. Korean IT workers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(SentinelLABS 2025)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4800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274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840480" y="868680"/>
            <a:ext cx="5029200" cy="8686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2" name="Text 10"/>
          <p:cNvSpPr/>
          <p:nvPr/>
        </p:nvSpPr>
        <p:spPr>
          <a:xfrm>
            <a:off x="3977640" y="9418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Phishing / Infostealer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obtain valid credentials via phishing campaigns or infostealer malware.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874520"/>
            <a:ext cx="5029200" cy="8686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5" name="Text 13"/>
          <p:cNvSpPr/>
          <p:nvPr/>
        </p:nvSpPr>
        <p:spPr>
          <a:xfrm>
            <a:off x="3977640" y="1947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Token Hijacking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77640" y="22402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tokens are stolen so MFA is bypassed — authentication is never triggered again.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0" y="2880360"/>
            <a:ext cx="5029200" cy="8686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8" name="Text 16"/>
          <p:cNvSpPr/>
          <p:nvPr/>
        </p:nvSpPr>
        <p:spPr>
          <a:xfrm>
            <a:off x="3977640" y="29535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Insider Infiltration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3246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fake personas (North Korean operatives) applied for and obtained remote tech roles.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3886200"/>
            <a:ext cx="5029200" cy="8686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21" name="Text 19"/>
          <p:cNvSpPr/>
          <p:nvPr/>
        </p:nvSpPr>
        <p:spPr>
          <a:xfrm>
            <a:off x="3977640" y="39593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Lateral Movement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7640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 as a 'valid' user, adversaries access dozens of interconnected systems silently.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APPLICATION — TOOLS &amp; METHODOLOGIES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Edge Decay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3611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 of recent zero-days targeted edge devices (VPNs, firewalls, routers).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often represent unmanaged blind spots with no EDR coverage.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controls: Decommission EoL hardware; centralize logs to SIEM; implement tiered network segmentation for Tier 0 assets; mandate MFA on all remote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206240" cy="411480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1" name="Text 9"/>
          <p:cNvSpPr/>
          <p:nvPr/>
        </p:nvSpPr>
        <p:spPr>
          <a:xfrm>
            <a:off x="470916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Living off the 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463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(GitHub Actions, Jenkins, GitLab) are targeted before code reaches production.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inject malicious commits or extract secrets (API keys, tokens) from build logs.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requires: full software development lifecycle (SDLC) visibility; correlation of activity across extended periods; secrets scanning in pipelines.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 — THE AUTOMATION MULTIPLIER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9776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457200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502920" y="886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Attacker Automation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scanning across millions of IPs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credential harvesting via infostealer botnets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lateral movement post-initial access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ransomware deployment pipelines (RaaS)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397764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14800" cy="45720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1" name="Text 9"/>
          <p:cNvSpPr/>
          <p:nvPr/>
        </p:nvSpPr>
        <p:spPr>
          <a:xfrm>
            <a:off x="4846320" y="8869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Defender Automation (SentinelOne)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threat detection &amp; blocking (Singularity Platform)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AI — GenAI for SecOps triage and investigation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Singularity Hyperautomation — no-code playbook execution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4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Singularity Identity — real-time post-login behavior monitoring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438912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611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Frontline data: Drawn from real-world MDR, IR, and threat hunting engagements — not theoretical.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framework: The 8-phase Defender's Playbook gives practitioners a clear, actionable roadmap.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release: Published at RSAC 2026, aligning with current attacker TTPs including AI-powered threats.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scope: Covers identity, edge, CI/CD, and automation — holistic enterprise coverage.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findings: Stats such as 46% zero-days on edge devices and 1,000+ fake job applications ground the analysis.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06240" cy="438912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1" name="Text 9"/>
          <p:cNvSpPr/>
          <p:nvPr/>
        </p:nvSpPr>
        <p:spPr>
          <a:xfrm>
            <a:off x="470916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 &amp; Risks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435608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bias: Published by SentinelOne — findings naturally foreground their own platform's capabilities.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skew: Data reflects SentinelOne's customer base only; unmonitored breaches are invisible.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risk: Rapidly evolving AI threats may outpace this annual report's applicability by mid-2026.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gap: Playbook complexity may be challenging for smaller organizations without dedicated SOC teams.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uncertainty: North Korean IT worker attribution relies on OSINT, which carries inherent uncertainty.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ALTERNATIVES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776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/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Neutral?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Practitioner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SentinelOne ATR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+ Identity + Cloud +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(vendor)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(8-phase playbook)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ATT&amp;CK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Adversary TTPs (comprehensive)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(mapped techniques)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Verizon DBIR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Breach data across industries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(statistical)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CrowdStrike GTR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Nation-state + eCrime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(vendor)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(threat intel)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CISA Advisories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(gov)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(policy-level)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 |  11 / 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15087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73152" cy="1508760"/>
          </a:xfrm>
          <a:prstGeom prst="rect">
            <a:avLst/>
          </a:prstGeom>
          <a:solidFill>
            <a:srgbClr val="F77F00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Identity is the new perimeter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7830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Post-login behavior monitoring is now essential — authentication alone is no longer sufficient defence.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4114800" cy="15087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73152" cy="1508760"/>
          </a:xfrm>
          <a:prstGeom prst="rect">
            <a:avLst/>
          </a:prstGeom>
          <a:solidFill>
            <a:srgbClr val="D6282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1" name="Text 9"/>
          <p:cNvSpPr/>
          <p:nvPr/>
        </p:nvSpPr>
        <p:spPr>
          <a:xfrm>
            <a:off x="475488" y="303580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Developers are on the frontline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474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must be treated as high-risk attack surfaces with full SDLC visibility and secrets scanning.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114800" cy="15087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4" name="Shape 12"/>
          <p:cNvSpPr/>
          <p:nvPr/>
        </p:nvSpPr>
        <p:spPr>
          <a:xfrm>
            <a:off x="4709160" y="1234440"/>
            <a:ext cx="73152" cy="1508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5" name="Text 13"/>
          <p:cNvSpPr/>
          <p:nvPr/>
        </p:nvSpPr>
        <p:spPr>
          <a:xfrm>
            <a:off x="4910328" y="134416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Patch and retire edge devices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0328" y="178308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46% of zero-days targeting edge infrastructure, decommissioning end-of-life hardware is non-negotiable.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114800" cy="15087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FJ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73152" cy="1508760"/>
          </a:xfrm>
          <a:prstGeom prst="rect">
            <a:avLst/>
          </a:prstGeom>
          <a:solidFill>
            <a:srgbClr val="2DC653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19" name="Text 17"/>
          <p:cNvSpPr/>
          <p:nvPr/>
        </p:nvSpPr>
        <p:spPr>
          <a:xfrm>
            <a:off x="4910328" y="3035808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Automate defensively or fall behind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347472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Defenders must match adversary automation — high-fidelity automated blocking, not alert fatigue.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22" name="Text 20"/>
          <p:cNvSpPr/>
          <p:nvPr/>
        </p:nvSpPr>
        <p:spPr>
          <a:xfrm>
            <a:off x="365760" y="46817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Final Recommendation: Treat cybersecurity as an operational discipline — connect global threat intelligence to local, context-aware defensive controls.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FJ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7th Edition  |  12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SentinelOne. (2026). Annual threat report: A defender's guide from the frontlines. SentinelLABS &amp; Wayfinder. https://www.sentinelone.com/threat-report/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Corporation. (2025). MITRE ATT&amp;CK® framework (v16). https://attack.mitre.org/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Verizon. (2025). 2025 data breach investigations report (DBIR). Verizon Business. https://www.verizon.com/business/resources/reports/dbir/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CrowdStrike. (2025). 2025 global threat report. CrowdStrike Inc. https://www.crowdstrike.com/global-threat-report/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Infrastructure Security Agency (CISA). (2025). Known exploited vulnerabilities (KEV) catalog. U.S. Department of Homeland Security. https://www.cisa.gov/known-exploited-vulnerabilities-catalog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Stone, S. (2026, March 24). SentinelOne's annual threat report: Defending against the industrialization of the modern cyber breach [Press release]. Business Wire. https://www.businesswire.com/news/home/20260324960213/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1350</Words>
  <Application>Microsoft Office PowerPoint</Application>
  <PresentationFormat>On-screen Show (16:9)</PresentationFormat>
  <Paragraphs>194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SentinelOne Annual Threat Report 2025</dc:title>
  <dc:subject>PptxGenJS Presentation</dc:subject>
  <dc:creator>PptxGenJS</dc:creator>
  <cp:lastModifiedBy>Vishant Kumar</cp:lastModifiedBy>
  <cp:revision>3</cp:revision>
  <dcterms:created xsi:type="dcterms:W3CDTF">2026-04-14T09:05:59Z</dcterms:created>
  <dcterms:modified xsi:type="dcterms:W3CDTF">2026-04-14T09:22:36Z</dcterms:modified>
</cp:coreProperties>
</file>