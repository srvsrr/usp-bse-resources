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314" r:id="rId5"/>
    <p:sldId id="316" r:id="rId6"/>
    <p:sldId id="326" r:id="rId7"/>
    <p:sldId id="346" r:id="rId8"/>
    <p:sldId id="347" r:id="rId9"/>
    <p:sldId id="318" r:id="rId10"/>
    <p:sldId id="328" r:id="rId11"/>
    <p:sldId id="354" r:id="rId12"/>
    <p:sldId id="356" r:id="rId13"/>
    <p:sldId id="334" r:id="rId14"/>
    <p:sldId id="348" r:id="rId15"/>
    <p:sldId id="335" r:id="rId16"/>
    <p:sldId id="349" r:id="rId17"/>
    <p:sldId id="336" r:id="rId18"/>
    <p:sldId id="350" r:id="rId19"/>
    <p:sldId id="342" r:id="rId20"/>
    <p:sldId id="343" r:id="rId21"/>
    <p:sldId id="339" r:id="rId22"/>
    <p:sldId id="340" r:id="rId23"/>
    <p:sldId id="345" r:id="rId24"/>
    <p:sldId id="34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D399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9F6A4-4A34-4DD3-9AC8-C87B3320AE2A}" v="2025" dt="2025-05-06T02:55:52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35" autoAdjust="0"/>
    <p:restoredTop sz="96371" autoAdjust="0"/>
  </p:normalViewPr>
  <p:slideViewPr>
    <p:cSldViewPr snapToGrid="0">
      <p:cViewPr varScale="1">
        <p:scale>
          <a:sx n="113" d="100"/>
          <a:sy n="113" d="100"/>
        </p:scale>
        <p:origin x="192" y="544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431-BC7A-2C6F-5CFB-016EBB7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C27E1-9098-6636-AAEF-E6D464201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7F34-31D7-EED7-C2BE-25B4A10B8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873D1-8CA4-0120-A4C9-0C1DB1AFB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17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E969-8C37-BA7B-C860-8D96226A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760E9-4E6D-AE12-9F21-D12C9224D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B7B15-180E-BF0B-1B57-F786C0FD2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4B1FA-125B-35B2-F9A2-BB13C7492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978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E7E9-EA51-97E2-07B7-1941FC32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312D-364D-4376-D9A6-48C470E74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0A434-CCA0-550A-27C6-4B134964B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1539B-3227-F8FB-2A83-A0893C0D8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B9A9E5-4F7F-4A7D-9DE1-89923232926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874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20D6-12BC-A7BE-2464-DCD96076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92965-F5AA-9D1F-7805-72A9675A8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A9898-EFC5-8971-C086-7AED493F8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AEF4F-A1A4-4A31-0475-BC62E9455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38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AD045-1C83-7084-BB74-6001F83D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65142-4EA2-FDCC-78FE-6AED6A2CD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EBF1A-66D6-C9C0-73A2-2F98C9397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B9948-08C5-0D1D-0FEF-5162749F5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1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BEE7-2383-0AB5-3EC9-0C1DEEA7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6C9C3-61DA-D7C4-0490-E3F6C9D29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02250-92DC-6139-F74A-A7DA8DD17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45CC2-0479-4FD7-6620-580D2C1C6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35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38AB-DF82-69B5-7DFB-24C5B7F9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72EEB-7FA8-7805-6F75-8A980DEA7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C329A-C3F6-8CDA-8439-C06D143B5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58135-AFA2-BBD8-CA79-4DDAED294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418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842A1-44C8-3534-EA70-EE3EF39A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83AB8-B4F7-B56F-6913-E71603D3F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C85D9-8A28-210B-0CEB-32BA505CC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68AA3-9EE7-B5A4-0A7C-E0420893B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07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D87A-FACE-33EE-574F-CB892CD2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D615D-9B85-F807-A38D-0FE69D0A9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6271C-B747-F99B-A16E-74FBCDF17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C99F0-089C-0132-F03B-AAA9C26FB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133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E280-EFB7-072C-35C3-0D0159A2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D5AEA-4A56-E332-BD01-60F466EB7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91B7C-44EE-1D7E-23D7-F65D575B3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F502E-F4E6-1972-C7A3-47E6E2F6B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454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1140-B4AD-130B-016B-227ABDA5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8EFE1-95E4-88C5-B5F3-161AA2FB8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397E1-2B6A-46CC-5230-3EAB08856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5735D-61B7-1F96-2A97-86DFC53EF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35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298D7-A876-9E14-205C-424C5CA0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DF6C8-CD8D-C997-901A-76934268D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54200-C0E5-77D9-EF29-7DC7A3488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3EC41-4DA2-11A4-30FF-6696AC606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527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A583-FEB1-882C-CBA2-44E8FFBE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FF2B6-274C-49B5-9CC6-4A765ACEF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C505E-A218-C4E5-44BA-868093C2D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DF801-9444-6052-82ED-B1D692D33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14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AF5E-43C2-2087-B16B-2283EEA6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785E4-30AA-82C3-5371-E6069AF2F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5A3E1-467C-263E-19DF-508C968D0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E0DC8-3E90-F93D-A913-346B03563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48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F4281-C5EA-5838-486F-0DD77CF9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76DB1-5776-CA50-943D-F40BCB38D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EC66A-C70D-531D-0C83-40517C7D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973EC-E51F-AA62-ACC0-C008C3CBD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835149" cy="5170436"/>
          </a:xfrm>
        </p:spPr>
        <p:txBody>
          <a:bodyPr>
            <a:normAutofit/>
          </a:bodyPr>
          <a:lstStyle/>
          <a:p>
            <a:b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</a:br>
            <a: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STUDENT ADMINISTRATION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FBB4A-2B2D-80B8-02CB-CBC885E13E37}"/>
              </a:ext>
            </a:extLst>
          </p:cNvPr>
          <p:cNvSpPr txBox="1"/>
          <p:nvPr/>
        </p:nvSpPr>
        <p:spPr>
          <a:xfrm>
            <a:off x="914399" y="5909187"/>
            <a:ext cx="3333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GROUP 4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3DA20-F12F-7C1E-3335-8202186A8B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Problem Statement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The current system is inefficient with a fragmented, decentralized database, requiring manual entry of student data, academic records and scheduling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Proposed Solution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 new robust and multi-functional student management system which streamlines and automates school administrative services.</a:t>
            </a:r>
            <a:endParaRPr lang="en-US" sz="26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Benefits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Automate trivial tasks, reduce manual work, improve data accuracy and integrity, and reduce long term costs</a:t>
            </a: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B461-70A7-632E-2EF8-C3A3F164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Core Modules</a:t>
            </a:r>
            <a:endParaRPr lang="en-FJ" sz="4000" b="1" dirty="0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1B37-5C93-022F-ED1C-30638B5D33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Role based access control.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Student Record Management.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Academic performance &amp; attendance tracking.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Library resource management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Timetable management.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Report generation.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Parent portal.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AI Chatbot.</a:t>
            </a:r>
          </a:p>
        </p:txBody>
      </p:sp>
    </p:spTree>
    <p:extLst>
      <p:ext uri="{BB962C8B-B14F-4D97-AF65-F5344CB8AC3E}">
        <p14:creationId xmlns:p14="http://schemas.microsoft.com/office/powerpoint/2010/main" val="279165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834C-EFFB-496D-D551-37048D31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5A2A-CB4F-5770-049C-1A03F396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Student management features</a:t>
            </a:r>
            <a:endParaRPr lang="en-FJ" sz="4000" b="1" dirty="0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F507C-13D9-A2FE-BE26-885F382239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Create new student profile.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Update existing student profile.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existing student profile.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existing student profiles.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Record student medical information.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Bulk import student profile data.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Bulk export student profile data.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Generate student data report.</a:t>
            </a:r>
          </a:p>
        </p:txBody>
      </p:sp>
    </p:spTree>
    <p:extLst>
      <p:ext uri="{BB962C8B-B14F-4D97-AF65-F5344CB8AC3E}">
        <p14:creationId xmlns:p14="http://schemas.microsoft.com/office/powerpoint/2010/main" val="383631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6400-6FF5-91F5-CD39-85473234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4374-E617-1537-3408-A1409128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293293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Grades management features</a:t>
            </a:r>
            <a:endParaRPr lang="en-FJ" sz="4000" b="1" dirty="0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62E3-0D31-9503-C060-E54646C948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Enter student marks.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Update student marks.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Delete student marks.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View student marks.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Generate academic report card.</a:t>
            </a:r>
          </a:p>
        </p:txBody>
      </p:sp>
    </p:spTree>
    <p:extLst>
      <p:ext uri="{BB962C8B-B14F-4D97-AF65-F5344CB8AC3E}">
        <p14:creationId xmlns:p14="http://schemas.microsoft.com/office/powerpoint/2010/main" val="317747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Technology stack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BCD38C6-3CB1-3DF8-8C57-471C21C897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React.js (TypeScript)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Spring Boot (Java)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OpenAI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PostgreSQL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Amazon Web Services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EF33A34-4ABE-970F-3479-1C190BAB0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399" y="4846320"/>
            <a:ext cx="991829" cy="99182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B573E53-56EC-9BD9-7520-8B2A4BF815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7168" y="4841404"/>
            <a:ext cx="1001661" cy="100166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05C6CBA-A2F3-98E8-A2F5-6369496B9F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8037" y="4714813"/>
            <a:ext cx="1254843" cy="125484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8776B9B-2504-4C92-A237-0998DB108B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46301" y="4841404"/>
            <a:ext cx="1001661" cy="1001661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481ED2-1823-2CAB-14B2-BE76741A20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25434" y="4841404"/>
            <a:ext cx="1001659" cy="100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1AC9-93AF-D7C5-5F3C-3CA80932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1446-F58E-1CFE-6E51-9DE4EA74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Architecture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9E2FB5-261A-4782-4E34-D8BBC942D0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3" b="14849"/>
          <a:stretch>
            <a:fillRect/>
          </a:stretch>
        </p:blipFill>
        <p:spPr>
          <a:xfrm>
            <a:off x="2583809" y="584477"/>
            <a:ext cx="7880032" cy="595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1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B0074-21FD-1846-D5E5-04DC61A3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A2E3-CE77-89AA-C718-9EFF569D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46946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Sequence diagram (create user)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AF696B-F787-5AF5-7FB7-F496276A9316}"/>
              </a:ext>
            </a:extLst>
          </p:cNvPr>
          <p:cNvCxnSpPr>
            <a:cxnSpLocks/>
          </p:cNvCxnSpPr>
          <p:nvPr/>
        </p:nvCxnSpPr>
        <p:spPr>
          <a:xfrm flipH="1">
            <a:off x="8591266" y="6085490"/>
            <a:ext cx="1743031" cy="6496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B21F0D-232A-CF9D-C85E-F85239B00CC3}"/>
              </a:ext>
            </a:extLst>
          </p:cNvPr>
          <p:cNvCxnSpPr>
            <a:cxnSpLocks/>
          </p:cNvCxnSpPr>
          <p:nvPr/>
        </p:nvCxnSpPr>
        <p:spPr>
          <a:xfrm flipH="1">
            <a:off x="9782503" y="4713890"/>
            <a:ext cx="488731" cy="20810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A394B77-8CC9-D2D8-D916-D69C32B25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3978"/>
            <a:ext cx="8394618" cy="4779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924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DF8B-11F5-B015-F232-0FC2ADB3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EA6BE8-268A-5968-BB2B-47CB8190B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99" y="1149292"/>
            <a:ext cx="9596535" cy="5708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84C3C5-4795-23A7-5F3C-CE4C530D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1277601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Structure chart (user management)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59A35A-C0CF-C945-2EB9-5EEC90B81B1F}"/>
              </a:ext>
            </a:extLst>
          </p:cNvPr>
          <p:cNvCxnSpPr>
            <a:cxnSpLocks/>
          </p:cNvCxnSpPr>
          <p:nvPr/>
        </p:nvCxnSpPr>
        <p:spPr>
          <a:xfrm flipH="1">
            <a:off x="8591266" y="6085490"/>
            <a:ext cx="1743031" cy="6496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FB8371-763F-FFE5-14F4-D7F81E0EF46E}"/>
              </a:ext>
            </a:extLst>
          </p:cNvPr>
          <p:cNvCxnSpPr>
            <a:cxnSpLocks/>
          </p:cNvCxnSpPr>
          <p:nvPr/>
        </p:nvCxnSpPr>
        <p:spPr>
          <a:xfrm flipH="1">
            <a:off x="9782503" y="4713890"/>
            <a:ext cx="488731" cy="20810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33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E0AC-676E-4785-C328-EE2AD421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C80D-0F9C-3053-C7B7-20C52A20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Entity Relationship Diagram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F63E6-4A94-8510-88BC-47BAE1A4D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8" y="1422692"/>
            <a:ext cx="8907695" cy="5256191"/>
          </a:xfrm>
          <a:prstGeom prst="rect">
            <a:avLst/>
          </a:prstGeom>
          <a:ln>
            <a:noFill/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09ACC6-2754-9101-F0CC-224B3E2506C5}"/>
              </a:ext>
            </a:extLst>
          </p:cNvPr>
          <p:cNvCxnSpPr>
            <a:cxnSpLocks/>
          </p:cNvCxnSpPr>
          <p:nvPr/>
        </p:nvCxnSpPr>
        <p:spPr>
          <a:xfrm flipH="1">
            <a:off x="8591266" y="6243546"/>
            <a:ext cx="1321529" cy="49162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639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7C4E-9BDE-E051-423C-F96D26FF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13277-6B70-4857-0466-D8FDE5069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7" y="1422691"/>
            <a:ext cx="7965198" cy="5446621"/>
          </a:xfrm>
          <a:prstGeom prst="rect">
            <a:avLst/>
          </a:prstGeom>
          <a:ln>
            <a:noFill/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33D93D-6DF2-DC0D-20CB-D3086116D320}"/>
              </a:ext>
            </a:extLst>
          </p:cNvPr>
          <p:cNvCxnSpPr>
            <a:cxnSpLocks/>
          </p:cNvCxnSpPr>
          <p:nvPr/>
        </p:nvCxnSpPr>
        <p:spPr>
          <a:xfrm flipH="1">
            <a:off x="7987229" y="6243546"/>
            <a:ext cx="1925566" cy="73013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F67DC4E-569B-34AD-76BD-9A001276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4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ERD (Student Info repository)</a:t>
            </a:r>
          </a:p>
        </p:txBody>
      </p:sp>
    </p:spTree>
    <p:extLst>
      <p:ext uri="{BB962C8B-B14F-4D97-AF65-F5344CB8AC3E}">
        <p14:creationId xmlns:p14="http://schemas.microsoft.com/office/powerpoint/2010/main" val="284047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5FFCA-8ED3-AB27-EF16-22610A30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E152-51FC-A0F6-97F9-50E42DEB8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9328089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Data flow Diagram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EF667-EC80-AA44-B3A7-0EC7E28C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0" y="1493172"/>
            <a:ext cx="9328090" cy="5314377"/>
          </a:xfrm>
          <a:prstGeom prst="rect">
            <a:avLst/>
          </a:prstGeom>
          <a:ln>
            <a:noFill/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B14E8D-96BA-2B33-8500-102410781C61}"/>
              </a:ext>
            </a:extLst>
          </p:cNvPr>
          <p:cNvCxnSpPr>
            <a:cxnSpLocks/>
          </p:cNvCxnSpPr>
          <p:nvPr/>
        </p:nvCxnSpPr>
        <p:spPr>
          <a:xfrm flipV="1">
            <a:off x="8525992" y="6289040"/>
            <a:ext cx="1258088" cy="4712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60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1840-E092-1556-9FBD-92280003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1FC70-99EA-3E0C-8AAE-FB65C711E4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734" y="1895913"/>
            <a:ext cx="11118960" cy="3931022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F5CB67-974D-A8E7-EA78-8BCC0370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DFD (account creation)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0714B2-A8C4-0CB3-9864-2F818B8CD527}"/>
              </a:ext>
            </a:extLst>
          </p:cNvPr>
          <p:cNvCxnSpPr>
            <a:cxnSpLocks/>
          </p:cNvCxnSpPr>
          <p:nvPr/>
        </p:nvCxnSpPr>
        <p:spPr>
          <a:xfrm flipV="1">
            <a:off x="8525992" y="6289040"/>
            <a:ext cx="1258088" cy="4712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981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1FBE6-E1DD-33DA-8ABB-3304ECDC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974B0-574D-153E-B6F7-C0D5EC432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05" y="1367155"/>
            <a:ext cx="9776460" cy="5125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A94004-E7AA-8D34-477C-330601521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Use case diagram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57A362-0F1D-0D7A-1422-51CE903072D9}"/>
              </a:ext>
            </a:extLst>
          </p:cNvPr>
          <p:cNvCxnSpPr>
            <a:cxnSpLocks/>
          </p:cNvCxnSpPr>
          <p:nvPr/>
        </p:nvCxnSpPr>
        <p:spPr>
          <a:xfrm flipH="1">
            <a:off x="8591266" y="6085490"/>
            <a:ext cx="1743031" cy="6496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178D2A-5C99-C6C8-61EC-596A92CE04D6}"/>
              </a:ext>
            </a:extLst>
          </p:cNvPr>
          <p:cNvCxnSpPr>
            <a:cxnSpLocks/>
          </p:cNvCxnSpPr>
          <p:nvPr/>
        </p:nvCxnSpPr>
        <p:spPr>
          <a:xfrm flipH="1">
            <a:off x="9782503" y="4713890"/>
            <a:ext cx="488731" cy="20810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600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2922B-90AD-32EF-F0EA-7E48C7A7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5001-52B0-BBFF-15D5-DE875CD1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1277602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Use case diagram (user management)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D95D69-E2C6-85CF-7068-AB635FCC0BD0}"/>
              </a:ext>
            </a:extLst>
          </p:cNvPr>
          <p:cNvCxnSpPr>
            <a:cxnSpLocks/>
          </p:cNvCxnSpPr>
          <p:nvPr/>
        </p:nvCxnSpPr>
        <p:spPr>
          <a:xfrm flipH="1">
            <a:off x="8591266" y="6085490"/>
            <a:ext cx="1743031" cy="6496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0C440D-787A-9EC8-B68B-64977E4F8DA2}"/>
              </a:ext>
            </a:extLst>
          </p:cNvPr>
          <p:cNvCxnSpPr>
            <a:cxnSpLocks/>
          </p:cNvCxnSpPr>
          <p:nvPr/>
        </p:nvCxnSpPr>
        <p:spPr>
          <a:xfrm flipH="1">
            <a:off x="9782503" y="4713890"/>
            <a:ext cx="488731" cy="20810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D85F2C0-BDF2-5DD4-A609-0E188A899B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387073"/>
            <a:ext cx="7252139" cy="546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55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17805-9D9E-A7C5-443E-6180AA8D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E3CE-3944-2E2B-652F-DEA6C70A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Implementation Plan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29A58-9C6B-EDF4-05FE-9993AC16E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6" t="11095" r="23035" b="11528"/>
          <a:stretch>
            <a:fillRect/>
          </a:stretch>
        </p:blipFill>
        <p:spPr>
          <a:xfrm>
            <a:off x="914399" y="1492858"/>
            <a:ext cx="8397767" cy="511145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73351C-24EE-0D30-9037-7C68F2C37656}"/>
              </a:ext>
            </a:extLst>
          </p:cNvPr>
          <p:cNvCxnSpPr>
            <a:cxnSpLocks/>
          </p:cNvCxnSpPr>
          <p:nvPr/>
        </p:nvCxnSpPr>
        <p:spPr>
          <a:xfrm flipH="1">
            <a:off x="8591266" y="6085490"/>
            <a:ext cx="1743031" cy="6496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F07861-0A6D-F0B5-B024-3598EEA656CF}"/>
              </a:ext>
            </a:extLst>
          </p:cNvPr>
          <p:cNvCxnSpPr>
            <a:cxnSpLocks/>
          </p:cNvCxnSpPr>
          <p:nvPr/>
        </p:nvCxnSpPr>
        <p:spPr>
          <a:xfrm flipH="1">
            <a:off x="9782503" y="4713890"/>
            <a:ext cx="488731" cy="20810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950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C199-C0CF-6F27-5938-541A0630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5AED-441C-96C5-A00B-ACEE2C7D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Implementation Plan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5F85AA-8BB9-8F00-9243-F59A1F9E8FB7}"/>
              </a:ext>
            </a:extLst>
          </p:cNvPr>
          <p:cNvCxnSpPr>
            <a:cxnSpLocks/>
          </p:cNvCxnSpPr>
          <p:nvPr/>
        </p:nvCxnSpPr>
        <p:spPr>
          <a:xfrm flipH="1">
            <a:off x="8591266" y="6085490"/>
            <a:ext cx="1743031" cy="64968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F1940F-646C-84F5-5EB0-EE1F90F2A0B1}"/>
              </a:ext>
            </a:extLst>
          </p:cNvPr>
          <p:cNvCxnSpPr>
            <a:cxnSpLocks/>
          </p:cNvCxnSpPr>
          <p:nvPr/>
        </p:nvCxnSpPr>
        <p:spPr>
          <a:xfrm flipH="1">
            <a:off x="9782503" y="4713890"/>
            <a:ext cx="488731" cy="208104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D3DA153-A091-6769-A35A-9A531AA53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8" t="11390" r="22719" b="39499"/>
          <a:stretch>
            <a:fillRect/>
          </a:stretch>
        </p:blipFill>
        <p:spPr>
          <a:xfrm>
            <a:off x="914399" y="1686911"/>
            <a:ext cx="8376747" cy="406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15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2ADC-C03C-3E4D-99F8-CADDFEFB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5B44-A492-13DE-6417-3D2895BB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7C6550F-A374-8AF7-D8B0-8FFEA54275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07" y="2399462"/>
            <a:ext cx="11917186" cy="3568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7B9173-7042-0BCD-5187-944046DE6400}"/>
              </a:ext>
            </a:extLst>
          </p:cNvPr>
          <p:cNvSpPr txBox="1"/>
          <p:nvPr/>
        </p:nvSpPr>
        <p:spPr>
          <a:xfrm>
            <a:off x="923545" y="1660798"/>
            <a:ext cx="37295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1.1 Authentication Module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FJ" dirty="0"/>
          </a:p>
        </p:txBody>
      </p:sp>
    </p:spTree>
    <p:extLst>
      <p:ext uri="{BB962C8B-B14F-4D97-AF65-F5344CB8AC3E}">
        <p14:creationId xmlns:p14="http://schemas.microsoft.com/office/powerpoint/2010/main" val="231553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B6E9-04FD-2A1D-5077-F2B3D7845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89B4-1C0C-A3B5-74D6-B3173924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946A44-65E9-9325-CFAD-FFB638E5E6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953" y="2071240"/>
            <a:ext cx="7816479" cy="47867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710857-A76F-1840-1FCF-0DA58F0366A3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1.2 Student Management Module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82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B3AC-E77E-092A-77E5-193C04A0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CDC73F-485E-45D4-7ACE-56E2D68A0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3" y="1562935"/>
            <a:ext cx="10354052" cy="53894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8EEB5-9BA2-6AF2-E037-F6C97301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User interfaces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2D31F-8397-B399-EBBE-C131C6C23CF1}"/>
              </a:ext>
            </a:extLst>
          </p:cNvPr>
          <p:cNvSpPr txBox="1"/>
          <p:nvPr/>
        </p:nvSpPr>
        <p:spPr>
          <a:xfrm>
            <a:off x="914403" y="1609576"/>
            <a:ext cx="6098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1.3 Dashboard</a:t>
            </a:r>
            <a:endParaRPr lang="en-FJ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205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836-2272-CA69-B2F3-78F4DC99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D4BE-7FCB-60C5-1627-6BBCC812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50BC9-09BC-DCA5-A2ED-2252CFA5DA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Optimized Operation</a:t>
            </a: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Delivers long-term savings by automating processes, improving data accuracy, and boosting administrative efficiency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Secure and Modern</a:t>
            </a: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Built on secure and modern technologies, the system will remain robust and future-proof.</a:t>
            </a:r>
            <a:endParaRPr lang="en-US" sz="26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User-First Design</a:t>
            </a:r>
            <a:endParaRPr lang="en-US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Integrated AI chatbot provides immediate support for queries along with user-friendly interface to guide and navigate users.</a:t>
            </a:r>
            <a:endParaRPr lang="en-US" sz="2000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32827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{8C1747CB-F196-4ECF-9A20-2D7904BB3E13}tf22318419_win32</Template>
  <TotalTime>988</TotalTime>
  <Words>323</Words>
  <Application>Microsoft Macintosh PowerPoint</Application>
  <PresentationFormat>Widescreen</PresentationFormat>
  <Paragraphs>81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Tenorite</vt:lpstr>
      <vt:lpstr>Custom</vt:lpstr>
      <vt:lpstr> STUDENT ADMINISTRATION SYSTEM</vt:lpstr>
      <vt:lpstr>Executive summary</vt:lpstr>
      <vt:lpstr>Core Modules</vt:lpstr>
      <vt:lpstr>Student management features</vt:lpstr>
      <vt:lpstr>Grades management features</vt:lpstr>
      <vt:lpstr>Technology stack</vt:lpstr>
      <vt:lpstr>Architecture</vt:lpstr>
      <vt:lpstr>Sequence diagram (create user)</vt:lpstr>
      <vt:lpstr>Structure chart (user management)</vt:lpstr>
      <vt:lpstr>Entity Relationship Diagram</vt:lpstr>
      <vt:lpstr>ERD (Student Info repository)</vt:lpstr>
      <vt:lpstr>Data flow Diagram</vt:lpstr>
      <vt:lpstr>DFD (account creation)</vt:lpstr>
      <vt:lpstr>Use case diagram</vt:lpstr>
      <vt:lpstr>Use case diagram (user management)</vt:lpstr>
      <vt:lpstr>Implementation Plan</vt:lpstr>
      <vt:lpstr>Implementation Plan</vt:lpstr>
      <vt:lpstr>User interfaces</vt:lpstr>
      <vt:lpstr>User interfaces</vt:lpstr>
      <vt:lpstr>User interfaces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Vishant Kumar</dc:creator>
  <cp:lastModifiedBy>Rohan nandan</cp:lastModifiedBy>
  <cp:revision>46</cp:revision>
  <dcterms:created xsi:type="dcterms:W3CDTF">2025-05-01T23:07:31Z</dcterms:created>
  <dcterms:modified xsi:type="dcterms:W3CDTF">2025-09-03T01:08:21Z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