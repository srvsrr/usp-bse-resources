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30"/>
  </p:notesMasterIdLst>
  <p:handoutMasterIdLst>
    <p:handoutMasterId r:id="rId31"/>
  </p:handoutMasterIdLst>
  <p:sldIdLst>
    <p:sldId id="314" r:id="rId5"/>
    <p:sldId id="316" r:id="rId6"/>
    <p:sldId id="354" r:id="rId7"/>
    <p:sldId id="326" r:id="rId8"/>
    <p:sldId id="346" r:id="rId9"/>
    <p:sldId id="347" r:id="rId10"/>
    <p:sldId id="348" r:id="rId11"/>
    <p:sldId id="349" r:id="rId12"/>
    <p:sldId id="350" r:id="rId13"/>
    <p:sldId id="351" r:id="rId14"/>
    <p:sldId id="318" r:id="rId15"/>
    <p:sldId id="328" r:id="rId16"/>
    <p:sldId id="353" r:id="rId17"/>
    <p:sldId id="339" r:id="rId18"/>
    <p:sldId id="345" r:id="rId19"/>
    <p:sldId id="340" r:id="rId20"/>
    <p:sldId id="357" r:id="rId21"/>
    <p:sldId id="358" r:id="rId22"/>
    <p:sldId id="359" r:id="rId23"/>
    <p:sldId id="360" r:id="rId24"/>
    <p:sldId id="361" r:id="rId25"/>
    <p:sldId id="362" r:id="rId26"/>
    <p:sldId id="344" r:id="rId27"/>
    <p:sldId id="356" r:id="rId28"/>
    <p:sldId id="35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D399"/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0193" autoAdjust="0"/>
    <p:restoredTop sz="96371" autoAdjust="0"/>
  </p:normalViewPr>
  <p:slideViewPr>
    <p:cSldViewPr snapToGrid="0">
      <p:cViewPr varScale="1">
        <p:scale>
          <a:sx n="96" d="100"/>
          <a:sy n="96" d="100"/>
        </p:scale>
        <p:origin x="176" y="904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10/16/25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10/16/25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30636-71E5-0A27-1494-A3C1EBEE0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54F91-29AB-599B-86FE-9946A4A2C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22013D-68B8-CF7E-5A8B-473B50381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4D198-9E38-320D-8AF0-41EF97E6F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470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2431-BC7A-2C6F-5CFB-016EBB7BE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C27E1-9098-6636-AAEF-E6D464201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67F34-31D7-EED7-C2BE-25B4A10B8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873D1-8CA4-0120-A4C9-0C1DB1AFB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417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9C8CB-0508-0AA2-08AA-1104A2EF0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4C9D62-04FF-BE53-7154-8AA6C82979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8710D1-541E-FE97-D745-51A97F3CE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D94F9-385C-DEC3-E5C9-532B53C53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238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298D7-A876-9E14-205C-424C5CA0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DF6C8-CD8D-C997-901A-76934268D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54200-C0E5-77D9-EF29-7DC7A3488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3EC41-4DA2-11A4-30FF-6696AC606E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527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AF5E-43C2-2087-B16B-2283EEA65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785E4-30AA-82C3-5371-E6069AF2F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E5A3E1-467C-263E-19DF-508C968D0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E0DC8-3E90-F93D-A913-346B03563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948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1A583-FEB1-882C-CBA2-44E8FFBEB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FFF2B6-274C-49B5-9CC6-4A765ACEF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C505E-A218-C4E5-44BA-868093C2D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DF801-9444-6052-82ED-B1D692D33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6144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CED92-AAC4-C0F7-3864-FA69E4E73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05A200-F2D7-8D7E-D446-F62301D23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94528-C554-ADB6-7EEF-5D64A8026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02423-9ABA-230A-525A-052691DC46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8875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B6BDE-B17D-7E83-04A0-F58CF00A0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54A2B-D79F-04B7-6E4E-4A7D38E3D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8C5F7F-C57C-970C-4306-EB3B0D1FB6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0CBC7-5222-8ACA-B18C-224709BF3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0014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928AC-B325-2E4F-03A5-6E9414D91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1371AD-7995-4D45-22FB-2A5532FD1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59E312-15CA-8138-57BE-9BCC51096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F5697-24FB-439D-14FA-BA54B7849D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2680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EC521-447B-EF82-921D-1901BDEE8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20A6D-D238-1181-6942-F126503BA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2D0FC-1C1A-5F1B-51FD-120268116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90EF0-E5E5-618D-E9FA-B64C069B0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8851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8CDF8-9B61-A08A-A94C-922C6F573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5DBDD-F782-5D28-BF0E-1A06CA953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9A8739-59F4-CC2D-1670-E0929D648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93AD8-E39F-AAE7-2851-863D1283B7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7001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708C3-FD1C-2FE5-ADD5-9335BEE8F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3402A9-1AE7-4005-54FD-496BCE51D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7AFBA7-AA7D-00BA-4929-99C626465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98BEC-8BD8-0BCD-FDDF-429DACC52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2242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F4281-C5EA-5838-486F-0DD77CF9B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76DB1-5776-CA50-943D-F40BCB38D6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0EC66A-C70D-531D-0C83-40517C7D1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973EC-E51F-AA62-ACC0-C008C3CBD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8718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20A0A-E4F3-0CFD-11B1-4B2CB5CA9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DA99C2-F369-1AA6-7640-8D869A43F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02CF70-7796-5BBA-990D-147F48565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3BDD2-655F-99B7-0DF4-50FB36F93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6393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1C519-4F99-E65C-9DFA-A205FD0AB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80174-993D-403D-ADCD-B92631AFD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E9BED-22FA-1320-74FE-0EB67185B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559A1-351E-9243-3139-4BD2EC237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143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835149" cy="5170436"/>
          </a:xfrm>
        </p:spPr>
        <p:txBody>
          <a:bodyPr>
            <a:normAutofit/>
          </a:bodyPr>
          <a:lstStyle/>
          <a:p>
            <a:br>
              <a:rPr lang="en-US" sz="72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</a:br>
            <a:r>
              <a:rPr lang="en-US" sz="72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STUDENT ADMINISTRATION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EFBB4A-2B2D-80B8-02CB-CBC885E13E37}"/>
              </a:ext>
            </a:extLst>
          </p:cNvPr>
          <p:cNvSpPr txBox="1"/>
          <p:nvPr/>
        </p:nvSpPr>
        <p:spPr>
          <a:xfrm>
            <a:off x="914399" y="5909187"/>
            <a:ext cx="3333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GROUP 4</a:t>
            </a: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55293"/>
            <a:ext cx="7273637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Team members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3DA20-F12F-7C1E-3335-8202186A8B6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363"/>
            <a:ext cx="8219769" cy="4586082"/>
          </a:xfrm>
        </p:spPr>
        <p:txBody>
          <a:bodyPr>
            <a:noAutofit/>
          </a:bodyPr>
          <a:lstStyle/>
          <a:p>
            <a:r>
              <a:rPr lang="en-US" sz="20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Anav Chand – S11221203</a:t>
            </a:r>
          </a:p>
          <a:p>
            <a:r>
              <a:rPr lang="en-US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Lanuongo Guttenbeil – S11215322</a:t>
            </a:r>
          </a:p>
          <a:p>
            <a:r>
              <a:rPr lang="en-US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Rohan Nandan – S11234883</a:t>
            </a:r>
          </a:p>
          <a:p>
            <a:r>
              <a:rPr lang="en-US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Vishant Kumar – S11230430</a:t>
            </a:r>
          </a:p>
          <a:p>
            <a:r>
              <a:rPr lang="en-US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Zhixian Chen – S11230686</a:t>
            </a:r>
          </a:p>
        </p:txBody>
      </p:sp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69EF6-5002-F65A-4194-C6164E17F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8BDA0-83D7-3311-AF5F-432E211B5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55293"/>
            <a:ext cx="7273637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Executive summary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D7F1C1-C5BC-AE4B-F9A0-C8E03C691CC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363"/>
            <a:ext cx="8219769" cy="4586082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Problem Statement</a:t>
            </a:r>
          </a:p>
          <a:p>
            <a:pPr marL="457200" lvl="1" indent="0">
              <a:buNone/>
            </a:pPr>
            <a:r>
              <a:rPr lang="en-US" sz="2000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The current system is inefficient with a fragmented, decentralized database, requiring manual entry of student data, academic records and scheduling</a:t>
            </a:r>
            <a:endParaRPr lang="en-US" sz="2000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Proposed Solution</a:t>
            </a:r>
          </a:p>
          <a:p>
            <a:pPr marL="457200" lvl="1" indent="0">
              <a:buNone/>
            </a:pPr>
            <a:r>
              <a:rPr lang="en-US" sz="20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 new robust and multi-functional student management system which streamlines and automates school administrative services.</a:t>
            </a:r>
            <a:endParaRPr lang="en-US" sz="2600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844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6B461-70A7-632E-2EF8-C3A3F1642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Scope of implementation</a:t>
            </a:r>
            <a:endParaRPr lang="en-FJ" sz="4000" b="1">
              <a:latin typeface="Arial" panose="020B0604020202020204" pitchFamily="34" charset="0"/>
              <a:ea typeface="Geist ExtraBold" pitchFamily="2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E1B37-5C93-022F-ED1C-30638B5D33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363"/>
            <a:ext cx="8686801" cy="448151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Authentication &amp; authorization module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User management module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Subject management module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Class management module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Assessment management module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Report generation module</a:t>
            </a:r>
            <a:endParaRPr lang="en-US" sz="2200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654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1834C-EFFB-496D-D551-37048D310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65A2A-CB4F-5770-049C-1A03F3967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293293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Authentication &amp; authorization module</a:t>
            </a:r>
            <a:endParaRPr lang="en-FJ" sz="4000" b="1">
              <a:latin typeface="Arial" panose="020B0604020202020204" pitchFamily="34" charset="0"/>
              <a:ea typeface="Geist ExtraBold" pitchFamily="2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F507C-13D9-A2FE-BE26-885F382239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363"/>
            <a:ext cx="8686801" cy="448151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Json Web Token-based authentication system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Role-Based Access Control (RBAC) with 3 user types: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Admin: Full system access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Teacher: Dashboard and Classes access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Student: Dashboard and enrolled Classes access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Login functionality (no signup - admin creates users)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Automatic redirection for unauthorized access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Password reset functionality</a:t>
            </a:r>
          </a:p>
        </p:txBody>
      </p:sp>
    </p:spTree>
    <p:extLst>
      <p:ext uri="{BB962C8B-B14F-4D97-AF65-F5344CB8AC3E}">
        <p14:creationId xmlns:p14="http://schemas.microsoft.com/office/powerpoint/2010/main" val="3836311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86400-6FF5-91F5-CD39-85473234C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94374-E617-1537-3408-A14091288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293293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User management module</a:t>
            </a:r>
            <a:endParaRPr lang="en-FJ" sz="4000" b="1">
              <a:latin typeface="Arial" panose="020B0604020202020204" pitchFamily="34" charset="0"/>
              <a:ea typeface="Geist ExtraBold" pitchFamily="2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262E3-0D31-9503-C060-E54646C948D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363"/>
            <a:ext cx="8686801" cy="4481512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Staff Management (Admin Only)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View all staff members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Add new staff (teachers)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Edit staff details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Delete staff members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Student Management (Admin Only)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View all students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Add new students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Edit student details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Delete students</a:t>
            </a:r>
          </a:p>
        </p:txBody>
      </p:sp>
    </p:spTree>
    <p:extLst>
      <p:ext uri="{BB962C8B-B14F-4D97-AF65-F5344CB8AC3E}">
        <p14:creationId xmlns:p14="http://schemas.microsoft.com/office/powerpoint/2010/main" val="3177470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AD355-657B-066A-787D-9ED4D846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B728-1260-27CD-09B0-985C0CB48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293293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Subject management module</a:t>
            </a:r>
            <a:endParaRPr lang="en-FJ" sz="4000" b="1">
              <a:latin typeface="Arial" panose="020B0604020202020204" pitchFamily="34" charset="0"/>
              <a:ea typeface="Geist ExtraBold" pitchFamily="2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63746-F5E3-55C4-CEDC-B43360EE1EC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363"/>
            <a:ext cx="8686801" cy="448151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Create new subjects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Edit subject details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Delete subjects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View all subjects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Assign subjects to classes</a:t>
            </a:r>
          </a:p>
        </p:txBody>
      </p:sp>
    </p:spTree>
    <p:extLst>
      <p:ext uri="{BB962C8B-B14F-4D97-AF65-F5344CB8AC3E}">
        <p14:creationId xmlns:p14="http://schemas.microsoft.com/office/powerpoint/2010/main" val="686285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0351C-69C0-6AEC-2BDD-EECA700E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07CE7-FCA4-969D-60D2-EBA520E1B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293293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Class management module</a:t>
            </a:r>
            <a:endParaRPr lang="en-FJ" sz="4000" b="1">
              <a:latin typeface="Arial" panose="020B0604020202020204" pitchFamily="34" charset="0"/>
              <a:ea typeface="Geist ExtraBold" pitchFamily="2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30024-527F-6EB0-E9AD-D4FDA575DE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363"/>
            <a:ext cx="8686801" cy="4481512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Class Operations (Admin)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Create new classes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Edit class details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Delete classes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View all classes with teacher and student counts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Assign teachers to classes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Class Enrollment (Admin)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Enroll students in classes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Remove students from classes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View enrollment status</a:t>
            </a:r>
          </a:p>
        </p:txBody>
      </p:sp>
    </p:spTree>
    <p:extLst>
      <p:ext uri="{BB962C8B-B14F-4D97-AF65-F5344CB8AC3E}">
        <p14:creationId xmlns:p14="http://schemas.microsoft.com/office/powerpoint/2010/main" val="963485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28F13-0D6A-CA9D-86C0-173F9EE03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EBCD-B573-CD1D-4779-CD12D8006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293293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Assessment management module</a:t>
            </a:r>
            <a:endParaRPr lang="en-FJ" sz="4000" b="1">
              <a:latin typeface="Arial" panose="020B0604020202020204" pitchFamily="34" charset="0"/>
              <a:ea typeface="Geist ExtraBold" pitchFamily="2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5A7E7-83CC-8A9E-E827-EE6C24F4060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363"/>
            <a:ext cx="8686801" cy="4481512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Assessment Operations (Admin &amp; Teacher)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Create assessments for classes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Edit assessment details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Delete assessments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View all assessments for a class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Marks Management (Admin &amp; Teacher)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Enter marks for students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Edit existing marks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View marks for all students in an assessment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Track completion status (marked/unmarked)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Individual student mark sheets</a:t>
            </a:r>
          </a:p>
        </p:txBody>
      </p:sp>
    </p:spTree>
    <p:extLst>
      <p:ext uri="{BB962C8B-B14F-4D97-AF65-F5344CB8AC3E}">
        <p14:creationId xmlns:p14="http://schemas.microsoft.com/office/powerpoint/2010/main" val="1893076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CD0B7-1B0B-45E8-C930-CEB677D59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4F201-DA00-D5D6-08CA-7AE9E3EF2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293293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Report generation management module</a:t>
            </a:r>
            <a:endParaRPr lang="en-FJ" sz="4000" b="1">
              <a:latin typeface="Arial" panose="020B0604020202020204" pitchFamily="34" charset="0"/>
              <a:ea typeface="Geist ExtraBold" pitchFamily="2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CD44E-BECD-126A-CD4C-1AB486F89CE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363"/>
            <a:ext cx="8686801" cy="4481512"/>
          </a:xfrm>
        </p:spPr>
        <p:txBody>
          <a:bodyPr>
            <a:normAutofit fontScale="62500" lnSpcReduction="20000"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Class Marksheet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 (PDF):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All students in a class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All assessments with marks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Subject-wise breakdown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Weighted totals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Final grades</a:t>
            </a: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Subject Report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 (PDF):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Select specific subjects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All students' performance in selected subjects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Assessment-wise breakdown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Subject averages</a:t>
            </a: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Student Report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 (PDF):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Select specific students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Individual performance across all subjects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All assessment marks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Overall performance summary</a:t>
            </a:r>
            <a:endParaRPr lang="en-US" sz="2200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826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Technology stack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BCD38C6-3CB1-3DF8-8C57-471C21C8972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Next.js (TypeScript)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Spring Boot (Java)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PostgreSQL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Amazon Web Services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7B573E53-56EC-9BD9-7520-8B2A4BF815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6509" y="4841404"/>
            <a:ext cx="1001661" cy="1001661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405C6CBA-A2F3-98E8-A2F5-6369496B9F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04250" y="4841403"/>
            <a:ext cx="1254843" cy="125484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7481ED2-1823-2CAB-14B2-BE76741A20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86093" y="4841403"/>
            <a:ext cx="1001659" cy="100165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AD2D054-782A-5D90-F145-BE0C36FC20F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4567" y="4841404"/>
            <a:ext cx="1001659" cy="100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91AC9-93AF-D7C5-5F3C-3CA809325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B1446-F58E-1CFE-6E51-9DE4EA742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Architecture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4A838D37-F7A6-3CE2-5768-A808E7591E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116"/>
          <a:stretch>
            <a:fillRect/>
          </a:stretch>
        </p:blipFill>
        <p:spPr>
          <a:xfrm>
            <a:off x="3293807" y="1361154"/>
            <a:ext cx="5901966" cy="532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16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586EC-772C-36D5-47FC-DE1CC8295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F0222-C41D-8C57-5769-406D65126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Architecture: MVC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033841-D43C-9101-C9AA-F9320FE022FF}"/>
              </a:ext>
            </a:extLst>
          </p:cNvPr>
          <p:cNvSpPr/>
          <p:nvPr/>
        </p:nvSpPr>
        <p:spPr>
          <a:xfrm>
            <a:off x="923545" y="2767264"/>
            <a:ext cx="135956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J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AA868-337A-486B-549F-ECAF12BB339F}"/>
              </a:ext>
            </a:extLst>
          </p:cNvPr>
          <p:cNvSpPr/>
          <p:nvPr/>
        </p:nvSpPr>
        <p:spPr>
          <a:xfrm>
            <a:off x="9839342" y="2767264"/>
            <a:ext cx="135956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J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2599AC-77F1-AF2D-DF9C-8DBC60070943}"/>
              </a:ext>
            </a:extLst>
          </p:cNvPr>
          <p:cNvSpPr/>
          <p:nvPr/>
        </p:nvSpPr>
        <p:spPr>
          <a:xfrm>
            <a:off x="5416216" y="2767264"/>
            <a:ext cx="135956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J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Controller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B86DC5-3BA3-9E4B-61FD-6A06C7F3ACFD}"/>
              </a:ext>
            </a:extLst>
          </p:cNvPr>
          <p:cNvSpPr txBox="1"/>
          <p:nvPr/>
        </p:nvSpPr>
        <p:spPr>
          <a:xfrm>
            <a:off x="111350" y="3828517"/>
            <a:ext cx="29839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FJ" dirty="0"/>
              <a:t>PRESENTATION Layer</a:t>
            </a:r>
          </a:p>
          <a:p>
            <a:pPr algn="ctr"/>
            <a:r>
              <a:rPr lang="en-FJ" dirty="0"/>
              <a:t>Next.js + React + TypeScript</a:t>
            </a:r>
          </a:p>
          <a:p>
            <a:pPr algn="ctr"/>
            <a:r>
              <a:rPr lang="en-FJ" dirty="0"/>
              <a:t>Port: 3000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4F38DA-D105-F7DC-B71B-5A75D07E72B4}"/>
              </a:ext>
            </a:extLst>
          </p:cNvPr>
          <p:cNvSpPr txBox="1"/>
          <p:nvPr/>
        </p:nvSpPr>
        <p:spPr>
          <a:xfrm>
            <a:off x="4557790" y="3828517"/>
            <a:ext cx="307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FJ" dirty="0"/>
              <a:t>APPLICATION Layer</a:t>
            </a:r>
          </a:p>
          <a:p>
            <a:pPr algn="ctr"/>
            <a:r>
              <a:rPr lang="en-FJ" dirty="0"/>
              <a:t>Spring Boot + Spring Security</a:t>
            </a:r>
          </a:p>
          <a:p>
            <a:pPr algn="ctr"/>
            <a:r>
              <a:rPr lang="en-FJ" dirty="0"/>
              <a:t>Port: 8080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982A18-FF2C-ACF0-D2C3-11019F2C621A}"/>
              </a:ext>
            </a:extLst>
          </p:cNvPr>
          <p:cNvSpPr txBox="1"/>
          <p:nvPr/>
        </p:nvSpPr>
        <p:spPr>
          <a:xfrm>
            <a:off x="9346529" y="3828517"/>
            <a:ext cx="23451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FJ" dirty="0"/>
              <a:t>DATA Layer</a:t>
            </a:r>
          </a:p>
          <a:p>
            <a:pPr algn="ctr"/>
            <a:r>
              <a:rPr lang="en-FJ" dirty="0"/>
              <a:t>PostgreSQL Database</a:t>
            </a:r>
          </a:p>
          <a:p>
            <a:pPr algn="ctr"/>
            <a:r>
              <a:rPr lang="en-FJ" dirty="0"/>
              <a:t>Port: 5432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F1A8D0-996F-B955-C5AE-0B3113EF432F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2283113" y="3224464"/>
            <a:ext cx="3133103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048869-8085-BC3E-452B-4DDD40960DF8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6775784" y="3224464"/>
            <a:ext cx="3063558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1069A8B-CC99-6342-A8DE-41D4D6A437C0}"/>
              </a:ext>
            </a:extLst>
          </p:cNvPr>
          <p:cNvSpPr txBox="1"/>
          <p:nvPr/>
        </p:nvSpPr>
        <p:spPr>
          <a:xfrm>
            <a:off x="2941466" y="2855132"/>
            <a:ext cx="1816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J"/>
              <a:t>REST API (JSON)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BCF04-30D1-F3A6-6E85-467DB38016C5}"/>
              </a:ext>
            </a:extLst>
          </p:cNvPr>
          <p:cNvSpPr txBox="1"/>
          <p:nvPr/>
        </p:nvSpPr>
        <p:spPr>
          <a:xfrm>
            <a:off x="7752314" y="2868210"/>
            <a:ext cx="1110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J"/>
              <a:t>JDBC/JPA</a:t>
            </a:r>
          </a:p>
        </p:txBody>
      </p:sp>
    </p:spTree>
    <p:extLst>
      <p:ext uri="{BB962C8B-B14F-4D97-AF65-F5344CB8AC3E}">
        <p14:creationId xmlns:p14="http://schemas.microsoft.com/office/powerpoint/2010/main" val="1293169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C2ADC-C03C-3E4D-99F8-CADDFEFBA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45B44-A492-13DE-6417-3D2895BBB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User interfaces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7B9173-7042-0BCD-5187-944046DE6400}"/>
              </a:ext>
            </a:extLst>
          </p:cNvPr>
          <p:cNvSpPr txBox="1"/>
          <p:nvPr/>
        </p:nvSpPr>
        <p:spPr>
          <a:xfrm>
            <a:off x="923545" y="1660798"/>
            <a:ext cx="263309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1.1 Authentication</a:t>
            </a:r>
          </a:p>
          <a:p>
            <a:endParaRPr lang="en-FJ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FJ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45AD62-356C-A16B-3340-095111E860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13" r="21495"/>
          <a:stretch>
            <a:fillRect/>
          </a:stretch>
        </p:blipFill>
        <p:spPr>
          <a:xfrm>
            <a:off x="1042220" y="2106641"/>
            <a:ext cx="3746090" cy="43606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567ACD-7C4D-6E62-22F2-F8B795C105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293" r="21787"/>
          <a:stretch>
            <a:fillRect/>
          </a:stretch>
        </p:blipFill>
        <p:spPr>
          <a:xfrm>
            <a:off x="5633884" y="2106641"/>
            <a:ext cx="4041058" cy="436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534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5B3AC-E77E-092A-77E5-193C04A03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8EEB5-9BA2-6AF2-E037-F6C973014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User interfaces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12D31F-8397-B399-EBBE-C131C6C23CF1}"/>
              </a:ext>
            </a:extLst>
          </p:cNvPr>
          <p:cNvSpPr txBox="1"/>
          <p:nvPr/>
        </p:nvSpPr>
        <p:spPr>
          <a:xfrm>
            <a:off x="914403" y="1609576"/>
            <a:ext cx="6098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1.2 Dashboard</a:t>
            </a:r>
            <a:endParaRPr lang="en-FJ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6E4774-0D20-D517-9902-E68B380FB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5" y="2070919"/>
            <a:ext cx="7659330" cy="478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205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8B6E9-04FD-2A1D-5077-F2B3D7845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F89B4-1C0C-A3B5-74D6-B31739247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User interfaces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710857-A76F-1840-1FCF-0DA58F0366A3}"/>
              </a:ext>
            </a:extLst>
          </p:cNvPr>
          <p:cNvSpPr txBox="1"/>
          <p:nvPr/>
        </p:nvSpPr>
        <p:spPr>
          <a:xfrm>
            <a:off x="914403" y="1609576"/>
            <a:ext cx="6098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1.3 Student Management</a:t>
            </a:r>
            <a:endParaRPr lang="en-FJ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55488B-3501-7142-FC13-6C161CE70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5" y="2071241"/>
            <a:ext cx="7658816" cy="478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820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54529-8A2D-354A-541E-595C1C652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E2C52-7B54-916E-EB07-88A7A83C9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User interfaces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87E7A7-AC0B-3AE4-48CA-087E27B2CC5C}"/>
              </a:ext>
            </a:extLst>
          </p:cNvPr>
          <p:cNvSpPr txBox="1"/>
          <p:nvPr/>
        </p:nvSpPr>
        <p:spPr>
          <a:xfrm>
            <a:off x="914403" y="1609576"/>
            <a:ext cx="6098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1.4 Class Management</a:t>
            </a:r>
            <a:endParaRPr lang="en-FJ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4E15FB-8DD2-F436-1242-2142A9FAD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3" y="2071241"/>
            <a:ext cx="7658815" cy="478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566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A0DC4-81F3-D89E-7213-76F4E0424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B4E92-08EB-3C6E-5DBD-E76628320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User interfaces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72BC7A-E422-8523-699C-9E06A8268F5C}"/>
              </a:ext>
            </a:extLst>
          </p:cNvPr>
          <p:cNvSpPr txBox="1"/>
          <p:nvPr/>
        </p:nvSpPr>
        <p:spPr>
          <a:xfrm>
            <a:off x="914403" y="1609576"/>
            <a:ext cx="6098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1.5 Subject Management</a:t>
            </a:r>
            <a:endParaRPr lang="en-FJ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EA7B0F-BACB-17C2-26C2-003F92F2C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5" y="2071241"/>
            <a:ext cx="7658816" cy="478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020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D0CC0-D77D-B696-1765-7EB82062E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289E8-3AF6-78E8-2810-31A302CB6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User interfaces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D27F4B-60DF-E273-A094-4292489F98F4}"/>
              </a:ext>
            </a:extLst>
          </p:cNvPr>
          <p:cNvSpPr txBox="1"/>
          <p:nvPr/>
        </p:nvSpPr>
        <p:spPr>
          <a:xfrm>
            <a:off x="914403" y="1609576"/>
            <a:ext cx="6098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1.6 Class Enrollments</a:t>
            </a:r>
            <a:endParaRPr lang="en-FJ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91E12E-AB09-B306-F8E0-7C3EC64B4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2" y="2071241"/>
            <a:ext cx="7658815" cy="478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1241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87D9E-02B3-36B4-E034-8E58305FA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8B35-DB80-4E59-BF97-C825721C3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User interfaces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586788-2BE8-AFB1-BCB3-4720C7F72E5D}"/>
              </a:ext>
            </a:extLst>
          </p:cNvPr>
          <p:cNvSpPr txBox="1"/>
          <p:nvPr/>
        </p:nvSpPr>
        <p:spPr>
          <a:xfrm>
            <a:off x="914403" y="1609576"/>
            <a:ext cx="6098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1.7 Assessment Management</a:t>
            </a:r>
            <a:endParaRPr lang="en-FJ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870C35-B7BB-B71F-F5A8-C7B21DCCF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5" y="2064774"/>
            <a:ext cx="7669162" cy="479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332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DCE11-D67E-60ED-60DA-A82E098A9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AD227-8AE7-CA51-4309-61A44F71F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User interfaces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C35DFC-0DE7-6630-0242-E81D00E566C9}"/>
              </a:ext>
            </a:extLst>
          </p:cNvPr>
          <p:cNvSpPr txBox="1"/>
          <p:nvPr/>
        </p:nvSpPr>
        <p:spPr>
          <a:xfrm>
            <a:off x="914403" y="1609576"/>
            <a:ext cx="6098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1.8 Assessment Mark Management</a:t>
            </a:r>
            <a:endParaRPr lang="en-FJ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0CB444-09CF-D8E0-4346-0EDE3FEAF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5" y="2058629"/>
            <a:ext cx="7678995" cy="479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33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ED017-C15B-062B-3ED6-F5E690DE4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A5E40-7B67-6B72-B128-4BBC5149F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User interfaces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81FFE3-D364-76C1-2425-8BA02F66269D}"/>
              </a:ext>
            </a:extLst>
          </p:cNvPr>
          <p:cNvSpPr txBox="1"/>
          <p:nvPr/>
        </p:nvSpPr>
        <p:spPr>
          <a:xfrm>
            <a:off x="914403" y="1609576"/>
            <a:ext cx="6098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1.9 User Profile</a:t>
            </a:r>
            <a:endParaRPr lang="en-FJ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2C0780-F46C-76FA-341B-812789CC0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5" y="2071241"/>
            <a:ext cx="7649498" cy="478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22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EC836-2272-CA69-B2F3-78F4DC995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6D4BE-7FCB-60C5-1627-6BBCC8128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55293"/>
            <a:ext cx="7273637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Testing and Integration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650BC9-09BC-DCA5-A2ED-2252CFA5DA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363"/>
            <a:ext cx="8219769" cy="4586082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Unit Testing</a:t>
            </a:r>
          </a:p>
          <a:p>
            <a:pPr marL="457200" lvl="1" indent="0">
              <a:buNone/>
            </a:pP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UserRepositoryTest.java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- used to test CRUD operations and validating database constraints. </a:t>
            </a:r>
          </a:p>
          <a:p>
            <a:pPr marL="457200" lvl="1" indent="0">
              <a:buNone/>
            </a:pPr>
            <a:r>
              <a:rPr lang="en-GB" sz="20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Frameworks: </a:t>
            </a:r>
            <a:r>
              <a:rPr lang="en-GB" sz="2000" b="1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JUnit 5, Spring Boot Test &amp; </a:t>
            </a:r>
            <a:r>
              <a:rPr lang="en-GB" sz="2000" b="1" dirty="0" err="1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AssertJ</a:t>
            </a:r>
            <a:endParaRPr lang="en-US" sz="2000" b="1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Blackbox Testing</a:t>
            </a:r>
          </a:p>
          <a:p>
            <a:pPr marL="457200" lvl="1" indent="0">
              <a:buNone/>
            </a:pPr>
            <a:r>
              <a:rPr lang="en-GB" sz="20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Operations were tested with input to ensure exception handling was implemented corrected. </a:t>
            </a:r>
            <a:endParaRPr lang="en-US" sz="2600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Top-Down Integration</a:t>
            </a:r>
            <a:endParaRPr lang="en-US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GB" sz="20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Logical artifacts such as page routing and user interface components were testing using top-down integration by verifying controller endpoints to ensure return of correct data structures before connecting to actual database operations. </a:t>
            </a:r>
            <a:endParaRPr lang="en-US" sz="2000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475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F1562-B7CD-7DE8-81E1-8676AEC1F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60C61-CF01-04E5-0279-EA9D2BB7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55293"/>
            <a:ext cx="7273637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Lessons learnt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E439AC-8947-C1A2-1938-EE71DD0F799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363"/>
            <a:ext cx="8219769" cy="4586082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Program Modularization </a:t>
            </a:r>
          </a:p>
          <a:p>
            <a:pPr marL="457200" lvl="1" indent="0">
              <a:buNone/>
            </a:pPr>
            <a:r>
              <a:rPr lang="en-US" sz="20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Separation of reusable components into smaller, independent parts made development smoother. Maintained consistent user-interface design.</a:t>
            </a:r>
          </a:p>
          <a:p>
            <a:r>
              <a:rPr lang="en-US" sz="2400" b="1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Continuous Testing and Integration</a:t>
            </a:r>
          </a:p>
          <a:p>
            <a:pPr marL="457200" lvl="1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Testing modules as they are integrated into the system ensured that conflicts did not arise later in development. </a:t>
            </a:r>
            <a:endParaRPr lang="en-US" sz="2600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Version Control </a:t>
            </a:r>
            <a:endParaRPr lang="en-US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sz="20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Backups of codebase ensured quick recovery to older versions incase of code failures and loss of progress. </a:t>
            </a:r>
          </a:p>
        </p:txBody>
      </p:sp>
    </p:spTree>
    <p:extLst>
      <p:ext uri="{BB962C8B-B14F-4D97-AF65-F5344CB8AC3E}">
        <p14:creationId xmlns:p14="http://schemas.microsoft.com/office/powerpoint/2010/main" val="4127310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C2131-6904-5BC2-B6FC-6B602909F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C5002-A74D-6896-CB7F-931BFB6C4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55293"/>
            <a:ext cx="7273637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Contribution sheet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2BB4DBD-54B8-EA50-7395-D7277D6F1116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073708009"/>
              </p:ext>
            </p:extLst>
          </p:nvPr>
        </p:nvGraphicFramePr>
        <p:xfrm>
          <a:off x="914400" y="2011363"/>
          <a:ext cx="8921577" cy="4279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3859">
                  <a:extLst>
                    <a:ext uri="{9D8B030D-6E8A-4147-A177-3AD203B41FA5}">
                      <a16:colId xmlns:a16="http://schemas.microsoft.com/office/drawing/2014/main" val="2759058601"/>
                    </a:ext>
                  </a:extLst>
                </a:gridCol>
                <a:gridCol w="2973859">
                  <a:extLst>
                    <a:ext uri="{9D8B030D-6E8A-4147-A177-3AD203B41FA5}">
                      <a16:colId xmlns:a16="http://schemas.microsoft.com/office/drawing/2014/main" val="1314710019"/>
                    </a:ext>
                  </a:extLst>
                </a:gridCol>
                <a:gridCol w="2973859">
                  <a:extLst>
                    <a:ext uri="{9D8B030D-6E8A-4147-A177-3AD203B41FA5}">
                      <a16:colId xmlns:a16="http://schemas.microsoft.com/office/drawing/2014/main" val="1046273362"/>
                    </a:ext>
                  </a:extLst>
                </a:gridCol>
              </a:tblGrid>
              <a:tr h="1078849">
                <a:tc>
                  <a:txBody>
                    <a:bodyPr/>
                    <a:lstStyle/>
                    <a:p>
                      <a:r>
                        <a:rPr lang="en-FJ" dirty="0">
                          <a:solidFill>
                            <a:schemeClr val="tx1"/>
                          </a:solidFill>
                        </a:rPr>
                        <a:t>Team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J">
                          <a:solidFill>
                            <a:schemeClr val="tx1"/>
                          </a:solidFill>
                        </a:rPr>
                        <a:t>Percentage 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J">
                          <a:solidFill>
                            <a:schemeClr val="tx1"/>
                          </a:solidFill>
                        </a:rPr>
                        <a:t>Responsibilities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730948"/>
                  </a:ext>
                </a:extLst>
              </a:tr>
              <a:tr h="625047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eist Medium" pitchFamily="2" charset="0"/>
                          <a:cs typeface="Arial" panose="020B0604020202020204" pitchFamily="34" charset="0"/>
                        </a:rPr>
                        <a:t>Anav Chand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J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J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Authentication and Staff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095809"/>
                  </a:ext>
                </a:extLst>
              </a:tr>
              <a:tr h="6250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eist Medium" pitchFamily="2" charset="0"/>
                          <a:cs typeface="Arial" panose="020B0604020202020204" pitchFamily="34" charset="0"/>
                        </a:rPr>
                        <a:t>Vishant Kumar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eist Medium" pitchFamily="2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J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J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 Management and User Profile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302343"/>
                  </a:ext>
                </a:extLst>
              </a:tr>
              <a:tr h="6250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eist Medium" pitchFamily="2" charset="0"/>
                          <a:cs typeface="Arial" panose="020B0604020202020204" pitchFamily="34" charset="0"/>
                        </a:rPr>
                        <a:t>Rohan Nandan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J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J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 Management and Enrolment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824994"/>
                  </a:ext>
                </a:extLst>
              </a:tr>
              <a:tr h="6250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eist Medium" pitchFamily="2" charset="0"/>
                          <a:cs typeface="Arial" panose="020B0604020202020204" pitchFamily="34" charset="0"/>
                        </a:rPr>
                        <a:t>Zhixian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eist Medium" pitchFamily="2" charset="0"/>
                          <a:cs typeface="Arial" panose="020B0604020202020204" pitchFamily="34" charset="0"/>
                        </a:rPr>
                        <a:t> 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J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J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Assessment and Marks Module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568556"/>
                  </a:ext>
                </a:extLst>
              </a:tr>
              <a:tr h="6250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eist Medium" pitchFamily="2" charset="0"/>
                          <a:cs typeface="Arial" panose="020B0604020202020204" pitchFamily="34" charset="0"/>
                        </a:rPr>
                        <a:t>Lanuongo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eist Medium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eist Medium" pitchFamily="2" charset="0"/>
                          <a:cs typeface="Arial" panose="020B0604020202020204" pitchFamily="34" charset="0"/>
                        </a:rPr>
                        <a:t>Guttenbeil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eist Medium" pitchFamily="2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J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FJ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Subject Management and Report Generation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948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889740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{8C1747CB-F196-4ECF-9A20-2D7904BB3E13}tf22318419_win32</Template>
  <TotalTime>1149</TotalTime>
  <Words>694</Words>
  <Application>Microsoft Macintosh PowerPoint</Application>
  <PresentationFormat>Widescreen</PresentationFormat>
  <Paragraphs>177</Paragraphs>
  <Slides>25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Tenorite</vt:lpstr>
      <vt:lpstr>Custom</vt:lpstr>
      <vt:lpstr> STUDENT ADMINISTRATION SYSTEM</vt:lpstr>
      <vt:lpstr>Team members</vt:lpstr>
      <vt:lpstr>Executive summary</vt:lpstr>
      <vt:lpstr>Scope of implementation</vt:lpstr>
      <vt:lpstr>Authentication &amp; authorization module</vt:lpstr>
      <vt:lpstr>User management module</vt:lpstr>
      <vt:lpstr>Subject management module</vt:lpstr>
      <vt:lpstr>Class management module</vt:lpstr>
      <vt:lpstr>Assessment management module</vt:lpstr>
      <vt:lpstr>Report generation management module</vt:lpstr>
      <vt:lpstr>Technology stack</vt:lpstr>
      <vt:lpstr>Architecture</vt:lpstr>
      <vt:lpstr>Architecture: MVC</vt:lpstr>
      <vt:lpstr>User interfaces</vt:lpstr>
      <vt:lpstr>User interfaces</vt:lpstr>
      <vt:lpstr>User interfaces</vt:lpstr>
      <vt:lpstr>User interfaces</vt:lpstr>
      <vt:lpstr>User interfaces</vt:lpstr>
      <vt:lpstr>User interfaces</vt:lpstr>
      <vt:lpstr>User interfaces</vt:lpstr>
      <vt:lpstr>User interfaces</vt:lpstr>
      <vt:lpstr>User interfaces</vt:lpstr>
      <vt:lpstr>Testing and Integration</vt:lpstr>
      <vt:lpstr>Lessons learnt</vt:lpstr>
      <vt:lpstr>Contribution sheet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Vishant Kumar</dc:creator>
  <cp:lastModifiedBy>Rohan nandan</cp:lastModifiedBy>
  <cp:revision>67</cp:revision>
  <dcterms:created xsi:type="dcterms:W3CDTF">2025-05-01T23:07:31Z</dcterms:created>
  <dcterms:modified xsi:type="dcterms:W3CDTF">2025-10-16T03:08:40Z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